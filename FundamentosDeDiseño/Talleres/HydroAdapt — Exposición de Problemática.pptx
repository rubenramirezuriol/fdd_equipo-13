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Poppins Medium" charset="1" panose="00000600000000000000"/>
      <p:regular r:id="rId22"/>
    </p:embeddedFont>
    <p:embeddedFont>
      <p:font typeface="Poppins" charset="1" panose="00000500000000000000"/>
      <p:regular r:id="rId23"/>
    </p:embeddedFont>
    <p:embeddedFont>
      <p:font typeface="Anton" charset="1" panose="00000500000000000000"/>
      <p:regular r:id="rId24"/>
    </p:embeddedFon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Poppins Semi-Bold" charset="1" panose="00000700000000000000"/>
      <p:regular r:id="rId27"/>
    </p:embeddedFont>
    <p:embeddedFont>
      <p:font typeface="Hangyaboly" charset="1" panose="00000500000000000000"/>
      <p:regular r:id="rId28"/>
    </p:embeddedFont>
    <p:embeddedFont>
      <p:font typeface="Poppins Bold Italics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11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23.pn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1.png" Type="http://schemas.openxmlformats.org/officeDocument/2006/relationships/image"/><Relationship Id="rId2" Target="../media/image28.jpeg" Type="http://schemas.openxmlformats.org/officeDocument/2006/relationships/image"/><Relationship Id="rId3" Target="../media/image29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11.pn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6.jpeg" Type="http://schemas.openxmlformats.org/officeDocument/2006/relationships/image"/><Relationship Id="rId7" Target="../media/image37.jpeg" Type="http://schemas.openxmlformats.org/officeDocument/2006/relationships/image"/><Relationship Id="rId8" Target="../media/image38.jpe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11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2.png" Type="http://schemas.openxmlformats.org/officeDocument/2006/relationships/image"/><Relationship Id="rId7" Target="../media/image43.png" Type="http://schemas.openxmlformats.org/officeDocument/2006/relationships/image"/><Relationship Id="rId8" Target="../media/image44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https://www.fao.org/land-water/water/agricultural-water-management/water-accounting/en" TargetMode="External" Type="http://schemas.openxmlformats.org/officeDocument/2006/relationships/hyperlink"/><Relationship Id="rId7" Target="https://www.gob.pe/institucion/ana/noticias/816762-deficit-en-precipitaciones-afectara-disponibilidad-de-recursos-hidrico-en-arequipa" TargetMode="External" Type="http://schemas.openxmlformats.org/officeDocument/2006/relationships/hyperlink"/><Relationship Id="rId8" Target="https://www.worldbank.org/en/topic/water/publication/peru-strategic-actions-toward-water-security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6177" y="-2253397"/>
            <a:ext cx="4506794" cy="45067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66177" y="-2253397"/>
            <a:ext cx="4506794" cy="4506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333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44870" y="7614451"/>
            <a:ext cx="4506794" cy="45067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29548" y="-1633685"/>
            <a:ext cx="7021995" cy="70219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662" y="357350"/>
            <a:ext cx="7021995" cy="70219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2862" y="5015036"/>
            <a:ext cx="4981276" cy="498127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798140" y="-654640"/>
            <a:ext cx="11596280" cy="115962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5143500" y="0"/>
            <a:ext cx="10287000" cy="102870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0541" t="0" r="-47235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81326" y="5143500"/>
            <a:ext cx="4724348" cy="472434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7922" t="0" r="-32077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484482" y="1365186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287576" y="8267043"/>
            <a:ext cx="5709033" cy="1042313"/>
            <a:chOff x="0" y="0"/>
            <a:chExt cx="400154" cy="730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0154" cy="73057"/>
            </a:xfrm>
            <a:custGeom>
              <a:avLst/>
              <a:gdLst/>
              <a:ahLst/>
              <a:cxnLst/>
              <a:rect r="r" b="b" t="t" l="l"/>
              <a:pathLst>
                <a:path h="73057" w="400154">
                  <a:moveTo>
                    <a:pt x="36529" y="0"/>
                  </a:moveTo>
                  <a:lnTo>
                    <a:pt x="363626" y="0"/>
                  </a:lnTo>
                  <a:cubicBezTo>
                    <a:pt x="373314" y="0"/>
                    <a:pt x="382605" y="3849"/>
                    <a:pt x="389455" y="10699"/>
                  </a:cubicBezTo>
                  <a:cubicBezTo>
                    <a:pt x="396306" y="17549"/>
                    <a:pt x="400154" y="26841"/>
                    <a:pt x="400154" y="36529"/>
                  </a:cubicBezTo>
                  <a:lnTo>
                    <a:pt x="400154" y="36529"/>
                  </a:lnTo>
                  <a:cubicBezTo>
                    <a:pt x="400154" y="46217"/>
                    <a:pt x="396306" y="55508"/>
                    <a:pt x="389455" y="62358"/>
                  </a:cubicBezTo>
                  <a:cubicBezTo>
                    <a:pt x="382605" y="69209"/>
                    <a:pt x="373314" y="73057"/>
                    <a:pt x="363626" y="73057"/>
                  </a:cubicBezTo>
                  <a:lnTo>
                    <a:pt x="36529" y="73057"/>
                  </a:lnTo>
                  <a:cubicBezTo>
                    <a:pt x="26841" y="73057"/>
                    <a:pt x="17549" y="69209"/>
                    <a:pt x="10699" y="62358"/>
                  </a:cubicBezTo>
                  <a:cubicBezTo>
                    <a:pt x="3849" y="55508"/>
                    <a:pt x="0" y="46217"/>
                    <a:pt x="0" y="36529"/>
                  </a:cubicBezTo>
                  <a:lnTo>
                    <a:pt x="0" y="36529"/>
                  </a:lnTo>
                  <a:cubicBezTo>
                    <a:pt x="0" y="26841"/>
                    <a:pt x="3849" y="17549"/>
                    <a:pt x="10699" y="10699"/>
                  </a:cubicBezTo>
                  <a:cubicBezTo>
                    <a:pt x="17549" y="3849"/>
                    <a:pt x="26841" y="0"/>
                    <a:pt x="36529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00154" cy="111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030924" y="8519670"/>
            <a:ext cx="537058" cy="537058"/>
          </a:xfrm>
          <a:custGeom>
            <a:avLst/>
            <a:gdLst/>
            <a:ahLst/>
            <a:cxnLst/>
            <a:rect r="r" b="b" t="t" l="l"/>
            <a:pathLst>
              <a:path h="537058" w="537058">
                <a:moveTo>
                  <a:pt x="0" y="0"/>
                </a:moveTo>
                <a:lnTo>
                  <a:pt x="537058" y="0"/>
                </a:lnTo>
                <a:lnTo>
                  <a:pt x="537058" y="537058"/>
                </a:lnTo>
                <a:lnTo>
                  <a:pt x="0" y="5370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6984514" y="9473812"/>
            <a:ext cx="1356285" cy="1579372"/>
          </a:xfrm>
          <a:custGeom>
            <a:avLst/>
            <a:gdLst/>
            <a:ahLst/>
            <a:cxnLst/>
            <a:rect r="r" b="b" t="t" l="l"/>
            <a:pathLst>
              <a:path h="1579372" w="1356285">
                <a:moveTo>
                  <a:pt x="0" y="0"/>
                </a:moveTo>
                <a:lnTo>
                  <a:pt x="1356285" y="0"/>
                </a:lnTo>
                <a:lnTo>
                  <a:pt x="1356285" y="1579371"/>
                </a:lnTo>
                <a:lnTo>
                  <a:pt x="0" y="1579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11038059" y="-766183"/>
            <a:ext cx="1356285" cy="1579372"/>
          </a:xfrm>
          <a:custGeom>
            <a:avLst/>
            <a:gdLst/>
            <a:ahLst/>
            <a:cxnLst/>
            <a:rect r="r" b="b" t="t" l="l"/>
            <a:pathLst>
              <a:path h="1579372" w="1356285">
                <a:moveTo>
                  <a:pt x="0" y="0"/>
                </a:moveTo>
                <a:lnTo>
                  <a:pt x="1356286" y="0"/>
                </a:lnTo>
                <a:lnTo>
                  <a:pt x="1356286" y="1579371"/>
                </a:lnTo>
                <a:lnTo>
                  <a:pt x="0" y="1579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6769823" y="3697606"/>
            <a:ext cx="10226786" cy="1348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404"/>
              </a:lnSpc>
              <a:spcBef>
                <a:spcPct val="0"/>
              </a:spcBef>
            </a:pPr>
            <a:r>
              <a:rPr lang="en-US" b="true" sz="9499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HydroAdapt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266785" y="1367276"/>
            <a:ext cx="300610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Equipo 13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716202" y="8315124"/>
            <a:ext cx="4193086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Fundamentos de Diseño · UPCH · 2026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74308" y="6160769"/>
            <a:ext cx="89223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Sistema adaptativo de gestión hídrica para riego de precisión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29470" y="2517556"/>
            <a:ext cx="13012012" cy="130120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11230" y="1949797"/>
            <a:ext cx="10226786" cy="92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Problemática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89401" y="2392876"/>
            <a:ext cx="4834537" cy="48345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37336" y="3197862"/>
            <a:ext cx="11596280" cy="11596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91976" y="3852502"/>
            <a:ext cx="10287000" cy="102870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50093" t="0" r="0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814080" y="2517556"/>
            <a:ext cx="4585178" cy="458517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52254" t="0" r="-26317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5644870" y="-2946463"/>
            <a:ext cx="4506794" cy="45067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511230" y="4639428"/>
            <a:ext cx="7896552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El riego agrícola puede usar el agua de forma ineficiente cuando las decisiones no integran las condiciones reales de cada parcela. Suelo, clima, cultivo y disponibilidad hídrica cambian constantemente; regar con horarios o criterios rígidos puede aplicar agua cuando no se necesita o en una cantidad inadecuada.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511230" y="3976280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17735" y="830161"/>
            <a:ext cx="30061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HydroAdapt · Equipo 13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773357" y="-3064764"/>
            <a:ext cx="7021995" cy="702199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2255831" y="4868799"/>
            <a:ext cx="7021995" cy="702199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1099938" y="9023562"/>
            <a:ext cx="2867232" cy="286723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5400000">
            <a:off x="9848399" y="7872134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1101" y="-915114"/>
            <a:ext cx="4026503" cy="4026503"/>
            <a:chOff x="0" y="0"/>
            <a:chExt cx="5368671" cy="5368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8671" cy="5368671"/>
            </a:xfrm>
            <a:custGeom>
              <a:avLst/>
              <a:gdLst/>
              <a:ahLst/>
              <a:cxnLst/>
              <a:rect r="r" b="b" t="t" l="l"/>
              <a:pathLst>
                <a:path h="5368671" w="5368671">
                  <a:moveTo>
                    <a:pt x="0" y="2684399"/>
                  </a:moveTo>
                  <a:cubicBezTo>
                    <a:pt x="0" y="1201801"/>
                    <a:pt x="1201801" y="0"/>
                    <a:pt x="2684399" y="0"/>
                  </a:cubicBezTo>
                  <a:cubicBezTo>
                    <a:pt x="4166997" y="0"/>
                    <a:pt x="5368671" y="1201801"/>
                    <a:pt x="5368671" y="2684399"/>
                  </a:cubicBezTo>
                  <a:cubicBezTo>
                    <a:pt x="5368671" y="4166997"/>
                    <a:pt x="4166870" y="5368671"/>
                    <a:pt x="2684399" y="5368671"/>
                  </a:cubicBezTo>
                  <a:cubicBezTo>
                    <a:pt x="1201928" y="5368671"/>
                    <a:pt x="0" y="4166870"/>
                    <a:pt x="0" y="268439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57557" cap="sq">
              <a:solidFill>
                <a:srgbClr val="D2DC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37072" y="-503311"/>
            <a:ext cx="4575572" cy="4575572"/>
            <a:chOff x="0" y="0"/>
            <a:chExt cx="6100762" cy="6100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0826" cy="6100826"/>
            </a:xfrm>
            <a:custGeom>
              <a:avLst/>
              <a:gdLst/>
              <a:ahLst/>
              <a:cxnLst/>
              <a:rect r="r" b="b" t="t" l="l"/>
              <a:pathLst>
                <a:path h="6100826" w="6100826">
                  <a:moveTo>
                    <a:pt x="0" y="3050413"/>
                  </a:moveTo>
                  <a:cubicBezTo>
                    <a:pt x="0" y="1365758"/>
                    <a:pt x="1365758" y="0"/>
                    <a:pt x="3050413" y="0"/>
                  </a:cubicBezTo>
                  <a:cubicBezTo>
                    <a:pt x="4735068" y="0"/>
                    <a:pt x="6100826" y="1365758"/>
                    <a:pt x="6100826" y="3050413"/>
                  </a:cubicBezTo>
                  <a:cubicBezTo>
                    <a:pt x="6100826" y="4735068"/>
                    <a:pt x="4735068" y="6100826"/>
                    <a:pt x="3050413" y="6100826"/>
                  </a:cubicBezTo>
                  <a:cubicBezTo>
                    <a:pt x="1365758" y="6100826"/>
                    <a:pt x="0" y="4735068"/>
                    <a:pt x="0" y="305041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1" b="1"/>
              </a:stretch>
            </a:blipFill>
            <a:ln w="457557" cap="sq">
              <a:solidFill>
                <a:srgbClr val="D2DC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42245" y="480431"/>
            <a:ext cx="41177" cy="41177"/>
            <a:chOff x="0" y="0"/>
            <a:chExt cx="54902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9333" y="480431"/>
            <a:ext cx="41177" cy="41177"/>
            <a:chOff x="0" y="0"/>
            <a:chExt cx="54902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36412" y="480431"/>
            <a:ext cx="41177" cy="41177"/>
            <a:chOff x="0" y="0"/>
            <a:chExt cx="54902" cy="54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83490" y="480431"/>
            <a:ext cx="41177" cy="41177"/>
            <a:chOff x="0" y="0"/>
            <a:chExt cx="54902" cy="54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42245" y="727520"/>
            <a:ext cx="41177" cy="41177"/>
            <a:chOff x="0" y="0"/>
            <a:chExt cx="54902" cy="54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89333" y="727520"/>
            <a:ext cx="41177" cy="41177"/>
            <a:chOff x="0" y="0"/>
            <a:chExt cx="54902" cy="54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436412" y="727520"/>
            <a:ext cx="41177" cy="41177"/>
            <a:chOff x="0" y="0"/>
            <a:chExt cx="54902" cy="549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83490" y="727520"/>
            <a:ext cx="41177" cy="41177"/>
            <a:chOff x="0" y="0"/>
            <a:chExt cx="54902" cy="549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63363" y="9540069"/>
            <a:ext cx="41177" cy="41177"/>
            <a:chOff x="0" y="0"/>
            <a:chExt cx="54902" cy="54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10441" y="9540069"/>
            <a:ext cx="41177" cy="41177"/>
            <a:chOff x="0" y="0"/>
            <a:chExt cx="54902" cy="54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57520" y="9540069"/>
            <a:ext cx="41177" cy="41177"/>
            <a:chOff x="0" y="0"/>
            <a:chExt cx="54902" cy="549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04608" y="9540069"/>
            <a:ext cx="41177" cy="41177"/>
            <a:chOff x="0" y="0"/>
            <a:chExt cx="54902" cy="549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63363" y="9787157"/>
            <a:ext cx="41177" cy="41177"/>
            <a:chOff x="0" y="0"/>
            <a:chExt cx="54902" cy="549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10441" y="9787157"/>
            <a:ext cx="41177" cy="41177"/>
            <a:chOff x="0" y="0"/>
            <a:chExt cx="54902" cy="549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357520" y="9787157"/>
            <a:ext cx="41177" cy="41177"/>
            <a:chOff x="0" y="0"/>
            <a:chExt cx="54902" cy="549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04608" y="9787157"/>
            <a:ext cx="41177" cy="41177"/>
            <a:chOff x="0" y="0"/>
            <a:chExt cx="54902" cy="549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333870" y="666750"/>
            <a:ext cx="1189663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</a:pPr>
            <a:r>
              <a:rPr lang="en-US" sz="4802">
                <a:solidFill>
                  <a:srgbClr val="042E6D"/>
                </a:solidFill>
                <a:latin typeface="Anton"/>
                <a:ea typeface="Anton"/>
                <a:cs typeface="Anton"/>
                <a:sym typeface="Anton"/>
              </a:rPr>
              <a:t>Contexto global del problema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0" y="2595204"/>
            <a:ext cx="8059860" cy="4647011"/>
            <a:chOff x="0" y="0"/>
            <a:chExt cx="9425686" cy="5434495"/>
          </a:xfrm>
        </p:grpSpPr>
        <p:sp>
          <p:nvSpPr>
            <p:cNvPr name="Freeform 40" id="40" descr="chart_world.png"/>
            <p:cNvSpPr/>
            <p:nvPr/>
          </p:nvSpPr>
          <p:spPr>
            <a:xfrm flipH="false" flipV="false" rot="0">
              <a:off x="0" y="0"/>
              <a:ext cx="9425686" cy="5434457"/>
            </a:xfrm>
            <a:custGeom>
              <a:avLst/>
              <a:gdLst/>
              <a:ahLst/>
              <a:cxnLst/>
              <a:rect r="r" b="b" t="t" l="l"/>
              <a:pathLst>
                <a:path h="5434457" w="9425686">
                  <a:moveTo>
                    <a:pt x="0" y="0"/>
                  </a:moveTo>
                  <a:lnTo>
                    <a:pt x="9425686" y="0"/>
                  </a:lnTo>
                  <a:lnTo>
                    <a:pt x="9425686" y="5434457"/>
                  </a:lnTo>
                  <a:lnTo>
                    <a:pt x="0" y="5434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373304" y="2127647"/>
            <a:ext cx="3706216" cy="2127647"/>
            <a:chOff x="0" y="0"/>
            <a:chExt cx="4941621" cy="28368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41570" cy="2836799"/>
            </a:xfrm>
            <a:custGeom>
              <a:avLst/>
              <a:gdLst/>
              <a:ahLst/>
              <a:cxnLst/>
              <a:rect r="r" b="b" t="t" l="l"/>
              <a:pathLst>
                <a:path h="2836799" w="4941570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lnTo>
                    <a:pt x="4468749" y="0"/>
                  </a:lnTo>
                  <a:cubicBezTo>
                    <a:pt x="4729861" y="0"/>
                    <a:pt x="4941570" y="211709"/>
                    <a:pt x="4941570" y="472821"/>
                  </a:cubicBezTo>
                  <a:lnTo>
                    <a:pt x="4941570" y="2363978"/>
                  </a:lnTo>
                  <a:cubicBezTo>
                    <a:pt x="4941570" y="2625090"/>
                    <a:pt x="4729861" y="2836799"/>
                    <a:pt x="4468749" y="2836799"/>
                  </a:cubicBezTo>
                  <a:lnTo>
                    <a:pt x="472821" y="2836799"/>
                  </a:lnTo>
                  <a:cubicBezTo>
                    <a:pt x="211709" y="2836799"/>
                    <a:pt x="0" y="2625217"/>
                    <a:pt x="0" y="2363978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4941621" cy="2922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72%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las extracciones mundiales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agua dulce son para agricultura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559951" y="2127647"/>
            <a:ext cx="4598451" cy="2127647"/>
            <a:chOff x="0" y="0"/>
            <a:chExt cx="6131268" cy="283686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31306" cy="2836799"/>
            </a:xfrm>
            <a:custGeom>
              <a:avLst/>
              <a:gdLst/>
              <a:ahLst/>
              <a:cxnLst/>
              <a:rect r="r" b="b" t="t" l="l"/>
              <a:pathLst>
                <a:path h="2836799" w="6131306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lnTo>
                    <a:pt x="5658485" y="0"/>
                  </a:lnTo>
                  <a:cubicBezTo>
                    <a:pt x="5919597" y="0"/>
                    <a:pt x="6131306" y="211709"/>
                    <a:pt x="6131306" y="472821"/>
                  </a:cubicBezTo>
                  <a:lnTo>
                    <a:pt x="6131306" y="2363978"/>
                  </a:lnTo>
                  <a:cubicBezTo>
                    <a:pt x="6131306" y="2625090"/>
                    <a:pt x="5919597" y="2836799"/>
                    <a:pt x="5658485" y="2836799"/>
                  </a:cubicBezTo>
                  <a:lnTo>
                    <a:pt x="472821" y="2836799"/>
                  </a:lnTo>
                  <a:cubicBezTo>
                    <a:pt x="211709" y="2836799"/>
                    <a:pt x="0" y="2625217"/>
                    <a:pt x="0" y="2363978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76200"/>
              <a:ext cx="6131268" cy="2913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1 200 millones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personas viven en zonas agrícolas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 graves limitaciones de agua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464744" y="4861560"/>
            <a:ext cx="9513821" cy="3516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5"/>
              </a:lnSpc>
            </a:pPr>
            <a:r>
              <a:rPr lang="en-US" sz="2837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La agricultura es el sector que más agua dulce utiliza a nivel mundial.</a:t>
            </a:r>
          </a:p>
          <a:p>
            <a:pPr algn="l">
              <a:lnSpc>
                <a:spcPts val="3405"/>
              </a:lnSpc>
            </a:pPr>
            <a:r>
              <a:rPr lang="en-US" sz="2837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La presión sobre el recurso hídrico aumenta por la demanda alimentaria y la escasez de agua.</a:t>
            </a:r>
          </a:p>
          <a:p>
            <a:pPr algn="l">
              <a:lnSpc>
                <a:spcPts val="3405"/>
              </a:lnSpc>
            </a:pPr>
            <a:r>
              <a:rPr lang="en-US" sz="2837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Esto convierte a la eficiencia del riego en un reto prioritario.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1101" y="-915114"/>
            <a:ext cx="4026503" cy="4026503"/>
            <a:chOff x="0" y="0"/>
            <a:chExt cx="5368671" cy="5368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68671" cy="5368671"/>
            </a:xfrm>
            <a:custGeom>
              <a:avLst/>
              <a:gdLst/>
              <a:ahLst/>
              <a:cxnLst/>
              <a:rect r="r" b="b" t="t" l="l"/>
              <a:pathLst>
                <a:path h="5368671" w="5368671">
                  <a:moveTo>
                    <a:pt x="0" y="2684399"/>
                  </a:moveTo>
                  <a:cubicBezTo>
                    <a:pt x="0" y="1201801"/>
                    <a:pt x="1201801" y="0"/>
                    <a:pt x="2684399" y="0"/>
                  </a:cubicBezTo>
                  <a:cubicBezTo>
                    <a:pt x="4166997" y="0"/>
                    <a:pt x="5368671" y="1201801"/>
                    <a:pt x="5368671" y="2684399"/>
                  </a:cubicBezTo>
                  <a:cubicBezTo>
                    <a:pt x="5368671" y="4166997"/>
                    <a:pt x="4166870" y="5368671"/>
                    <a:pt x="2684399" y="5368671"/>
                  </a:cubicBezTo>
                  <a:cubicBezTo>
                    <a:pt x="1201928" y="5368671"/>
                    <a:pt x="0" y="4166870"/>
                    <a:pt x="0" y="2684399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57557" cap="sq">
              <a:solidFill>
                <a:srgbClr val="D2DC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537072" y="-503311"/>
            <a:ext cx="4575572" cy="4575572"/>
            <a:chOff x="0" y="0"/>
            <a:chExt cx="6100762" cy="6100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0826" cy="6100826"/>
            </a:xfrm>
            <a:custGeom>
              <a:avLst/>
              <a:gdLst/>
              <a:ahLst/>
              <a:cxnLst/>
              <a:rect r="r" b="b" t="t" l="l"/>
              <a:pathLst>
                <a:path h="6100826" w="6100826">
                  <a:moveTo>
                    <a:pt x="0" y="3050413"/>
                  </a:moveTo>
                  <a:cubicBezTo>
                    <a:pt x="0" y="1365758"/>
                    <a:pt x="1365758" y="0"/>
                    <a:pt x="3050413" y="0"/>
                  </a:cubicBezTo>
                  <a:cubicBezTo>
                    <a:pt x="4735068" y="0"/>
                    <a:pt x="6100826" y="1365758"/>
                    <a:pt x="6100826" y="3050413"/>
                  </a:cubicBezTo>
                  <a:cubicBezTo>
                    <a:pt x="6100826" y="4735068"/>
                    <a:pt x="4735068" y="6100826"/>
                    <a:pt x="3050413" y="6100826"/>
                  </a:cubicBezTo>
                  <a:cubicBezTo>
                    <a:pt x="1365758" y="6100826"/>
                    <a:pt x="0" y="4735068"/>
                    <a:pt x="0" y="305041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2" t="0" r="-78301" b="1"/>
              </a:stretch>
            </a:blipFill>
            <a:ln w="457557" cap="sq">
              <a:solidFill>
                <a:srgbClr val="D2DCE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942245" y="480431"/>
            <a:ext cx="41177" cy="41177"/>
            <a:chOff x="0" y="0"/>
            <a:chExt cx="54902" cy="549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89333" y="480431"/>
            <a:ext cx="41177" cy="41177"/>
            <a:chOff x="0" y="0"/>
            <a:chExt cx="54902" cy="549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36412" y="480431"/>
            <a:ext cx="41177" cy="41177"/>
            <a:chOff x="0" y="0"/>
            <a:chExt cx="54902" cy="549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83490" y="480431"/>
            <a:ext cx="41177" cy="41177"/>
            <a:chOff x="0" y="0"/>
            <a:chExt cx="54902" cy="549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942245" y="727520"/>
            <a:ext cx="41177" cy="41177"/>
            <a:chOff x="0" y="0"/>
            <a:chExt cx="54902" cy="549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89333" y="727520"/>
            <a:ext cx="41177" cy="41177"/>
            <a:chOff x="0" y="0"/>
            <a:chExt cx="54902" cy="5490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436412" y="727520"/>
            <a:ext cx="41177" cy="41177"/>
            <a:chOff x="0" y="0"/>
            <a:chExt cx="54902" cy="549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83490" y="727520"/>
            <a:ext cx="41177" cy="41177"/>
            <a:chOff x="0" y="0"/>
            <a:chExt cx="54902" cy="549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6D992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63363" y="9540069"/>
            <a:ext cx="41177" cy="41177"/>
            <a:chOff x="0" y="0"/>
            <a:chExt cx="54902" cy="54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110441" y="9540069"/>
            <a:ext cx="41177" cy="41177"/>
            <a:chOff x="0" y="0"/>
            <a:chExt cx="54902" cy="549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357520" y="9540069"/>
            <a:ext cx="41177" cy="41177"/>
            <a:chOff x="0" y="0"/>
            <a:chExt cx="54902" cy="549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604608" y="9540069"/>
            <a:ext cx="41177" cy="41177"/>
            <a:chOff x="0" y="0"/>
            <a:chExt cx="54902" cy="5490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63363" y="9787157"/>
            <a:ext cx="41177" cy="41177"/>
            <a:chOff x="0" y="0"/>
            <a:chExt cx="54902" cy="549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10441" y="9787157"/>
            <a:ext cx="41177" cy="41177"/>
            <a:chOff x="0" y="0"/>
            <a:chExt cx="54902" cy="5490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357520" y="9787157"/>
            <a:ext cx="41177" cy="41177"/>
            <a:chOff x="0" y="0"/>
            <a:chExt cx="54902" cy="5490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604608" y="9787157"/>
            <a:ext cx="41177" cy="41177"/>
            <a:chOff x="0" y="0"/>
            <a:chExt cx="54902" cy="5490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864" cy="54864"/>
            </a:xfrm>
            <a:custGeom>
              <a:avLst/>
              <a:gdLst/>
              <a:ahLst/>
              <a:cxnLst/>
              <a:rect r="r" b="b" t="t" l="l"/>
              <a:pathLst>
                <a:path h="54864" w="54864">
                  <a:moveTo>
                    <a:pt x="0" y="27432"/>
                  </a:moveTo>
                  <a:cubicBezTo>
                    <a:pt x="0" y="12319"/>
                    <a:pt x="12319" y="0"/>
                    <a:pt x="27432" y="0"/>
                  </a:cubicBezTo>
                  <a:cubicBezTo>
                    <a:pt x="42545" y="0"/>
                    <a:pt x="54864" y="12319"/>
                    <a:pt x="54864" y="27432"/>
                  </a:cubicBezTo>
                  <a:cubicBezTo>
                    <a:pt x="54864" y="42545"/>
                    <a:pt x="42672" y="54864"/>
                    <a:pt x="27432" y="54864"/>
                  </a:cubicBezTo>
                  <a:cubicBezTo>
                    <a:pt x="12192" y="54864"/>
                    <a:pt x="0" y="42672"/>
                    <a:pt x="0" y="27432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92235" y="1990373"/>
            <a:ext cx="6726098" cy="3772121"/>
            <a:chOff x="0" y="0"/>
            <a:chExt cx="8968130" cy="5029495"/>
          </a:xfrm>
        </p:grpSpPr>
        <p:sp>
          <p:nvSpPr>
            <p:cNvPr name="Freeform 39" id="39" descr="chart_peru.png"/>
            <p:cNvSpPr/>
            <p:nvPr/>
          </p:nvSpPr>
          <p:spPr>
            <a:xfrm flipH="false" flipV="false" rot="0">
              <a:off x="0" y="0"/>
              <a:ext cx="8968105" cy="5029483"/>
            </a:xfrm>
            <a:custGeom>
              <a:avLst/>
              <a:gdLst/>
              <a:ahLst/>
              <a:cxnLst/>
              <a:rect r="r" b="b" t="t" l="l"/>
              <a:pathLst>
                <a:path h="5029483" w="8968105">
                  <a:moveTo>
                    <a:pt x="0" y="0"/>
                  </a:moveTo>
                  <a:lnTo>
                    <a:pt x="8968105" y="0"/>
                  </a:lnTo>
                  <a:lnTo>
                    <a:pt x="8968105" y="5029483"/>
                  </a:lnTo>
                  <a:lnTo>
                    <a:pt x="0" y="5029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03" r="0" b="-140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7865402" y="2495357"/>
            <a:ext cx="8236039" cy="1647206"/>
            <a:chOff x="0" y="0"/>
            <a:chExt cx="10981385" cy="219627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81309" cy="2196211"/>
            </a:xfrm>
            <a:custGeom>
              <a:avLst/>
              <a:gdLst/>
              <a:ahLst/>
              <a:cxnLst/>
              <a:rect r="r" b="b" t="t" l="l"/>
              <a:pathLst>
                <a:path h="2196211" w="10981309">
                  <a:moveTo>
                    <a:pt x="0" y="366014"/>
                  </a:moveTo>
                  <a:cubicBezTo>
                    <a:pt x="0" y="163830"/>
                    <a:pt x="163830" y="0"/>
                    <a:pt x="366014" y="0"/>
                  </a:cubicBezTo>
                  <a:lnTo>
                    <a:pt x="10615295" y="0"/>
                  </a:lnTo>
                  <a:cubicBezTo>
                    <a:pt x="10817478" y="0"/>
                    <a:pt x="10981309" y="163830"/>
                    <a:pt x="10981309" y="366014"/>
                  </a:cubicBezTo>
                  <a:lnTo>
                    <a:pt x="10981309" y="1830197"/>
                  </a:lnTo>
                  <a:cubicBezTo>
                    <a:pt x="10981309" y="2032381"/>
                    <a:pt x="10817478" y="2196211"/>
                    <a:pt x="10615295" y="2196211"/>
                  </a:cubicBezTo>
                  <a:lnTo>
                    <a:pt x="366014" y="2196211"/>
                  </a:lnTo>
                  <a:cubicBezTo>
                    <a:pt x="163830" y="2196338"/>
                    <a:pt x="0" y="2032381"/>
                    <a:pt x="0" y="1830197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10981385" cy="2262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46% del territorio peruano presenta vulnerabilidad alta o muy alta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frente a desastres relacionados con El Niño y el cambio climático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2235" y="6039755"/>
            <a:ext cx="6794725" cy="3917585"/>
            <a:chOff x="0" y="0"/>
            <a:chExt cx="9059634" cy="5223446"/>
          </a:xfrm>
        </p:grpSpPr>
        <p:sp>
          <p:nvSpPr>
            <p:cNvPr name="Freeform 44" id="44" descr="chart_arequipa.png"/>
            <p:cNvSpPr/>
            <p:nvPr/>
          </p:nvSpPr>
          <p:spPr>
            <a:xfrm flipH="false" flipV="false" rot="0">
              <a:off x="0" y="0"/>
              <a:ext cx="9059672" cy="5223510"/>
            </a:xfrm>
            <a:custGeom>
              <a:avLst/>
              <a:gdLst/>
              <a:ahLst/>
              <a:cxnLst/>
              <a:rect r="r" b="b" t="t" l="l"/>
              <a:pathLst>
                <a:path h="5223510" w="9059672">
                  <a:moveTo>
                    <a:pt x="0" y="0"/>
                  </a:moveTo>
                  <a:lnTo>
                    <a:pt x="9059672" y="0"/>
                  </a:lnTo>
                  <a:lnTo>
                    <a:pt x="9059672" y="5223510"/>
                  </a:lnTo>
                  <a:lnTo>
                    <a:pt x="0" y="5223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28700" y="593984"/>
            <a:ext cx="1189663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3"/>
              </a:lnSpc>
            </a:pPr>
            <a:r>
              <a:rPr lang="en-US" sz="4002">
                <a:solidFill>
                  <a:srgbClr val="042E6D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  <a:r>
              <a:rPr lang="en-US" sz="4002">
                <a:solidFill>
                  <a:srgbClr val="042E6D"/>
                </a:solidFill>
                <a:latin typeface="Anton"/>
                <a:ea typeface="Anton"/>
                <a:cs typeface="Anton"/>
                <a:sym typeface="Anton"/>
              </a:rPr>
              <a:t>anorama hídrico del Perú y su sector agrícola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30137" y="5396236"/>
            <a:ext cx="8464953" cy="324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En Arequipa, 70% del recurso hídrico almacenado se destina al uso agrícola.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Puede desperdiciarse alrededor del 40% del agua por tecnologías de riego poco eficientes.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0B234A"/>
                </a:solidFill>
                <a:latin typeface="Calibri (MS)"/>
                <a:ea typeface="Calibri (MS)"/>
                <a:cs typeface="Calibri (MS)"/>
                <a:sym typeface="Calibri (MS)"/>
              </a:rPr>
              <a:t>La variabilidad de lluvias y temperaturas complica aún más la disponibilidad de agua.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9965" y="-1235824"/>
            <a:ext cx="7021995" cy="70219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68989" y="4885681"/>
            <a:ext cx="7021995" cy="702199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1020" y="640476"/>
            <a:ext cx="3269395" cy="32693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67293" y="6952044"/>
            <a:ext cx="4155471" cy="866838"/>
            <a:chOff x="0" y="0"/>
            <a:chExt cx="1033086" cy="21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66264" y="6952044"/>
            <a:ext cx="4155471" cy="866838"/>
            <a:chOff x="0" y="0"/>
            <a:chExt cx="1033086" cy="215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20141" y="640476"/>
            <a:ext cx="3269395" cy="326939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85444" y="9374524"/>
            <a:ext cx="3269395" cy="326939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518872" y="-1455137"/>
            <a:ext cx="2867232" cy="286723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1F3541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21223" y="-1433616"/>
            <a:ext cx="2867232" cy="286723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592745" y="1937533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839001" y="915041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7718883" y="7747175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17211220" y="1937533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376339" y="763941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767293" y="3909871"/>
            <a:ext cx="4155471" cy="2868307"/>
            <a:chOff x="0" y="0"/>
            <a:chExt cx="643791" cy="4443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0"/>
              <a:stretch>
                <a:fillRect l="-11517" t="0" r="-11517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66264" y="3909871"/>
            <a:ext cx="4155471" cy="2868307"/>
            <a:chOff x="0" y="0"/>
            <a:chExt cx="643791" cy="44437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1"/>
              <a:stretch>
                <a:fillRect l="-753" t="0" r="-753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364736" y="3909871"/>
            <a:ext cx="4155471" cy="2868307"/>
            <a:chOff x="0" y="0"/>
            <a:chExt cx="643791" cy="44437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2"/>
              <a:stretch>
                <a:fillRect l="-11355" t="0" r="-11355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65236" y="6952044"/>
            <a:ext cx="4155471" cy="866838"/>
            <a:chOff x="0" y="0"/>
            <a:chExt cx="1033086" cy="2155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505865" y="7933182"/>
            <a:ext cx="467832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36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de la superficie agrícola cuenta con riego tecnificado.</a:t>
            </a:r>
          </a:p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pc="36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INEI · ENA 2023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-2970431" y="8396678"/>
            <a:ext cx="4506794" cy="4506794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4234834" y="1752318"/>
            <a:ext cx="9818332" cy="85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Evidencia del problema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038908" y="766032"/>
            <a:ext cx="30061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Riego agrícola en Perú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767293" y="7093390"/>
            <a:ext cx="415547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pc="72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15,8 %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066264" y="7093390"/>
            <a:ext cx="415547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pc="72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30–95 %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65236" y="7093390"/>
            <a:ext cx="415547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pc="72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9–50 %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04836" y="7942707"/>
            <a:ext cx="46783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pc="33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eficiencia según tecnología: gravedad 30–40 % · goteo 85–95 %.</a:t>
            </a:r>
          </a:p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pc="33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MIDAGRI · 2026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103807" y="7942707"/>
            <a:ext cx="46783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pc="33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ahorro de agua reportado en sistemas de riego inteligente basados en IoT.</a:t>
            </a:r>
          </a:p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pc="33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Moustafa et al. · 2026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9965" y="-1235824"/>
            <a:ext cx="7021995" cy="70219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68989" y="4885681"/>
            <a:ext cx="7021995" cy="702199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1020" y="640476"/>
            <a:ext cx="3269395" cy="32693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520141" y="640476"/>
            <a:ext cx="3269395" cy="32693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885444" y="9374524"/>
            <a:ext cx="3269395" cy="32693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18872" y="-1455137"/>
            <a:ext cx="2867232" cy="286723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1F354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21223" y="-1433616"/>
            <a:ext cx="2867232" cy="286723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5400000">
            <a:off x="592745" y="1937533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400000">
            <a:off x="1839001" y="915041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17718883" y="7747175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7211220" y="1937533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376339" y="763941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-2970431" y="8396678"/>
            <a:ext cx="4506794" cy="450679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234834" y="1752318"/>
            <a:ext cx="9818332" cy="85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La brecha en cifras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38908" y="766032"/>
            <a:ext cx="30061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Evidencia estadística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4" id="34" descr="Tres gráficos estadísticos: evolución del riego tecnificado en Perú, eficiencia de aplicación por sistema de riego y rango de ahorro de agua reportado en sistemas IoT."/>
          <p:cNvSpPr/>
          <p:nvPr/>
        </p:nvSpPr>
        <p:spPr>
          <a:xfrm flipH="false" flipV="false" rot="0">
            <a:off x="1143000" y="3205553"/>
            <a:ext cx="16002000" cy="5191125"/>
          </a:xfrm>
          <a:custGeom>
            <a:avLst/>
            <a:gdLst/>
            <a:ahLst/>
            <a:cxnLst/>
            <a:rect r="r" b="b" t="t" l="l"/>
            <a:pathLst>
              <a:path h="5191125" w="16002000">
                <a:moveTo>
                  <a:pt x="0" y="0"/>
                </a:moveTo>
                <a:lnTo>
                  <a:pt x="16002000" y="0"/>
                </a:lnTo>
                <a:lnTo>
                  <a:pt x="16002000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1" t="0" r="-10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511230" y="3976280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4572" y="1762886"/>
            <a:ext cx="4742240" cy="176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Causas principales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3226" y="5433223"/>
            <a:ext cx="7021995" cy="702199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08704" y="-3026025"/>
            <a:ext cx="7021995" cy="702199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93867" y="4566385"/>
            <a:ext cx="4155471" cy="866838"/>
            <a:chOff x="0" y="0"/>
            <a:chExt cx="1033086" cy="215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02183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93867" y="8303786"/>
            <a:ext cx="4155471" cy="866838"/>
            <a:chOff x="0" y="0"/>
            <a:chExt cx="1033086" cy="215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1F354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67835" y="-3878229"/>
            <a:ext cx="5889559" cy="588955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34223" y="0"/>
            <a:ext cx="10287000" cy="102870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1738" y="-933450"/>
            <a:ext cx="12153900" cy="121539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92263" y="4566385"/>
            <a:ext cx="4155471" cy="866838"/>
            <a:chOff x="0" y="0"/>
            <a:chExt cx="1033086" cy="2155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0A2D3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92263" y="8303786"/>
            <a:ext cx="4155471" cy="866838"/>
            <a:chOff x="0" y="0"/>
            <a:chExt cx="1033086" cy="215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1F354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93867" y="1959322"/>
            <a:ext cx="4155471" cy="2435084"/>
            <a:chOff x="0" y="0"/>
            <a:chExt cx="643791" cy="3772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5646" r="0" b="-15646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193867" y="5696723"/>
            <a:ext cx="4155471" cy="2435084"/>
            <a:chOff x="0" y="0"/>
            <a:chExt cx="643791" cy="3772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5234" r="0" b="-2523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2263" y="1959322"/>
            <a:ext cx="4155471" cy="2435084"/>
            <a:chOff x="0" y="0"/>
            <a:chExt cx="643791" cy="37725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-6621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892263" y="5696723"/>
            <a:ext cx="4155471" cy="2435084"/>
            <a:chOff x="0" y="0"/>
            <a:chExt cx="643791" cy="3772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21337" r="0" b="-2133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-709763" y="8268113"/>
            <a:ext cx="2721751" cy="272175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B234A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5400000">
            <a:off x="13331880" y="977933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5400000">
            <a:off x="9487271" y="-458646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917735" y="830161"/>
            <a:ext cx="300610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Problemática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11230" y="4348395"/>
            <a:ext cx="5794948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La ineficiencia no depende de una sola causa. El reto es convertir información de la parcela en decisiones de riego oportunas, específicas y adaptables.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93867" y="4745831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Horarios rígidos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93867" y="8483232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Poca adaptación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92263" y="4745831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Datos fragmentados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92263" y="8483232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Costo y calibración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24423" y="1685010"/>
            <a:ext cx="13012012" cy="130120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11230" y="1730982"/>
            <a:ext cx="9468229" cy="92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Consecuencias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46826" y="3367078"/>
            <a:ext cx="4280207" cy="42802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32289" y="2365317"/>
            <a:ext cx="11596280" cy="11596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86929" y="3019957"/>
            <a:ext cx="10287000" cy="1028700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747" t="0" r="-16747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57210" y="3477462"/>
            <a:ext cx="4059439" cy="40594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5644870" y="-2946463"/>
            <a:ext cx="4506794" cy="45067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511230" y="3757465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73357" y="-3064764"/>
            <a:ext cx="7021995" cy="70219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2255831" y="4868799"/>
            <a:ext cx="7021995" cy="70219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1099938" y="9023562"/>
            <a:ext cx="2867232" cy="286723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9848399" y="7872134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511230" y="4249297"/>
            <a:ext cx="7260663" cy="1092355"/>
            <a:chOff x="0" y="0"/>
            <a:chExt cx="1805064" cy="2715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11230" y="5581553"/>
            <a:ext cx="7260663" cy="1092355"/>
            <a:chOff x="0" y="0"/>
            <a:chExt cx="1805064" cy="2715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840892" y="4483939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40892" y="5816195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511230" y="6913809"/>
            <a:ext cx="7260663" cy="1092355"/>
            <a:chOff x="0" y="0"/>
            <a:chExt cx="1805064" cy="2715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840892" y="7148451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511230" y="8246065"/>
            <a:ext cx="7260663" cy="1092355"/>
            <a:chOff x="0" y="0"/>
            <a:chExt cx="1805064" cy="2715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840892" y="8480707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917735" y="830161"/>
            <a:ext cx="30061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Impacto del problema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59899" y="4541502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Mayor consumo de agua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59899" y="5873758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Mayor gasto energético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59899" y="7206014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Posibles pérdidas de nutrientes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859899" y="8538270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Menor resiliencia climática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9965" y="-1235824"/>
            <a:ext cx="7021995" cy="70219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68989" y="4885681"/>
            <a:ext cx="7021995" cy="702199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1020" y="640476"/>
            <a:ext cx="3269395" cy="326939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67293" y="6952044"/>
            <a:ext cx="4155471" cy="866838"/>
            <a:chOff x="0" y="0"/>
            <a:chExt cx="1033086" cy="2155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66264" y="6952044"/>
            <a:ext cx="4155471" cy="866838"/>
            <a:chOff x="0" y="0"/>
            <a:chExt cx="1033086" cy="215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520141" y="640476"/>
            <a:ext cx="3269395" cy="326939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85444" y="9374524"/>
            <a:ext cx="3269395" cy="326939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1099938" y="-1433616"/>
            <a:ext cx="2867232" cy="286723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721223" y="-1433616"/>
            <a:ext cx="2867232" cy="286723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5400000">
            <a:off x="-76367" y="9214980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5400000">
            <a:off x="17718883" y="7747175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17211220" y="1937533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445087" y="1088796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767293" y="3909871"/>
            <a:ext cx="4155471" cy="2868307"/>
            <a:chOff x="0" y="0"/>
            <a:chExt cx="643791" cy="44437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0"/>
              <a:stretch>
                <a:fillRect l="-7520" t="0" r="-752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66264" y="3909871"/>
            <a:ext cx="4155471" cy="2868307"/>
            <a:chOff x="0" y="0"/>
            <a:chExt cx="643791" cy="44437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3523" r="0" b="-352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64736" y="3909871"/>
            <a:ext cx="4155471" cy="2868307"/>
            <a:chOff x="0" y="0"/>
            <a:chExt cx="643791" cy="44437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91" cy="444376"/>
            </a:xfrm>
            <a:custGeom>
              <a:avLst/>
              <a:gdLst/>
              <a:ahLst/>
              <a:cxnLst/>
              <a:rect r="r" b="b" t="t" l="l"/>
              <a:pathLst>
                <a:path h="444376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84758"/>
                  </a:lnTo>
                  <a:cubicBezTo>
                    <a:pt x="643791" y="417684"/>
                    <a:pt x="617099" y="444376"/>
                    <a:pt x="584173" y="444376"/>
                  </a:cubicBezTo>
                  <a:lnTo>
                    <a:pt x="59618" y="444376"/>
                  </a:lnTo>
                  <a:cubicBezTo>
                    <a:pt x="26692" y="444376"/>
                    <a:pt x="0" y="417684"/>
                    <a:pt x="0" y="384758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22437" r="0" b="-2243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65236" y="6952044"/>
            <a:ext cx="4155471" cy="866838"/>
            <a:chOff x="0" y="0"/>
            <a:chExt cx="1033086" cy="2155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05865" y="7923657"/>
            <a:ext cx="467832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Productores agrícolas con necesidad de optimizar el recurso hídrico.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-2970431" y="8396678"/>
            <a:ext cx="4506794" cy="4506794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3402556" y="1685643"/>
            <a:ext cx="11482888" cy="92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Delimitación del problema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66264" y="1146217"/>
            <a:ext cx="5648128" cy="454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25"/>
              </a:lnSpc>
              <a:spcBef>
                <a:spcPct val="0"/>
              </a:spcBef>
            </a:pPr>
            <a:r>
              <a:rPr lang="en-US" b="true" sz="2589" spc="51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Contexto de estudio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767293" y="7131490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Pequeños cultivos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66264" y="7131490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Lima / Huaral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65236" y="7131490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Riego de precisión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804836" y="7923657"/>
            <a:ext cx="467832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La ubicación específica se confirmará con evidencia local.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03807" y="7923657"/>
            <a:ext cx="467832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Cultivo y parcela se definirán para la validación 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5566" y="-2590473"/>
            <a:ext cx="7021995" cy="702199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543075" y="1444195"/>
            <a:ext cx="10497635" cy="1049763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971994" y="1993042"/>
            <a:ext cx="9355472" cy="93554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443853" y="2521183"/>
            <a:ext cx="8299191" cy="829919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781" r="0" b="-12781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644870" y="-2946463"/>
            <a:ext cx="4506794" cy="45067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7844132" y="9010679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 flipV="true">
            <a:off x="12636424" y="3763262"/>
            <a:ext cx="4223680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298227" y="4414319"/>
            <a:ext cx="2561876" cy="1488182"/>
            <a:chOff x="0" y="0"/>
            <a:chExt cx="636905" cy="3699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6905" cy="369975"/>
            </a:xfrm>
            <a:custGeom>
              <a:avLst/>
              <a:gdLst/>
              <a:ahLst/>
              <a:cxnLst/>
              <a:rect r="r" b="b" t="t" l="l"/>
              <a:pathLst>
                <a:path h="369975" w="636905">
                  <a:moveTo>
                    <a:pt x="111813" y="0"/>
                  </a:moveTo>
                  <a:lnTo>
                    <a:pt x="525092" y="0"/>
                  </a:lnTo>
                  <a:cubicBezTo>
                    <a:pt x="554746" y="0"/>
                    <a:pt x="583186" y="11780"/>
                    <a:pt x="604155" y="32749"/>
                  </a:cubicBezTo>
                  <a:cubicBezTo>
                    <a:pt x="625124" y="53718"/>
                    <a:pt x="636905" y="82158"/>
                    <a:pt x="636905" y="111813"/>
                  </a:cubicBezTo>
                  <a:lnTo>
                    <a:pt x="636905" y="258162"/>
                  </a:lnTo>
                  <a:cubicBezTo>
                    <a:pt x="636905" y="319915"/>
                    <a:pt x="586844" y="369975"/>
                    <a:pt x="525092" y="369975"/>
                  </a:cubicBezTo>
                  <a:lnTo>
                    <a:pt x="111813" y="369975"/>
                  </a:lnTo>
                  <a:cubicBezTo>
                    <a:pt x="82158" y="369975"/>
                    <a:pt x="53718" y="358195"/>
                    <a:pt x="32749" y="337226"/>
                  </a:cubicBezTo>
                  <a:cubicBezTo>
                    <a:pt x="11780" y="316257"/>
                    <a:pt x="0" y="287817"/>
                    <a:pt x="0" y="258162"/>
                  </a:cubicBezTo>
                  <a:lnTo>
                    <a:pt x="0" y="111813"/>
                  </a:lnTo>
                  <a:cubicBezTo>
                    <a:pt x="0" y="50060"/>
                    <a:pt x="50060" y="0"/>
                    <a:pt x="111813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636905" cy="4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298227" y="6101743"/>
            <a:ext cx="2561876" cy="1488182"/>
            <a:chOff x="0" y="0"/>
            <a:chExt cx="636905" cy="3699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6905" cy="369975"/>
            </a:xfrm>
            <a:custGeom>
              <a:avLst/>
              <a:gdLst/>
              <a:ahLst/>
              <a:cxnLst/>
              <a:rect r="r" b="b" t="t" l="l"/>
              <a:pathLst>
                <a:path h="369975" w="636905">
                  <a:moveTo>
                    <a:pt x="111813" y="0"/>
                  </a:moveTo>
                  <a:lnTo>
                    <a:pt x="525092" y="0"/>
                  </a:lnTo>
                  <a:cubicBezTo>
                    <a:pt x="554746" y="0"/>
                    <a:pt x="583186" y="11780"/>
                    <a:pt x="604155" y="32749"/>
                  </a:cubicBezTo>
                  <a:cubicBezTo>
                    <a:pt x="625124" y="53718"/>
                    <a:pt x="636905" y="82158"/>
                    <a:pt x="636905" y="111813"/>
                  </a:cubicBezTo>
                  <a:lnTo>
                    <a:pt x="636905" y="258162"/>
                  </a:lnTo>
                  <a:cubicBezTo>
                    <a:pt x="636905" y="319915"/>
                    <a:pt x="586844" y="369975"/>
                    <a:pt x="525092" y="369975"/>
                  </a:cubicBezTo>
                  <a:lnTo>
                    <a:pt x="111813" y="369975"/>
                  </a:lnTo>
                  <a:cubicBezTo>
                    <a:pt x="82158" y="369975"/>
                    <a:pt x="53718" y="358195"/>
                    <a:pt x="32749" y="337226"/>
                  </a:cubicBezTo>
                  <a:cubicBezTo>
                    <a:pt x="11780" y="316257"/>
                    <a:pt x="0" y="287817"/>
                    <a:pt x="0" y="258162"/>
                  </a:cubicBezTo>
                  <a:lnTo>
                    <a:pt x="0" y="111813"/>
                  </a:lnTo>
                  <a:cubicBezTo>
                    <a:pt x="0" y="50060"/>
                    <a:pt x="50060" y="0"/>
                    <a:pt x="111813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36905" cy="4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98227" y="7789168"/>
            <a:ext cx="2561876" cy="1488182"/>
            <a:chOff x="0" y="0"/>
            <a:chExt cx="636905" cy="3699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6905" cy="369975"/>
            </a:xfrm>
            <a:custGeom>
              <a:avLst/>
              <a:gdLst/>
              <a:ahLst/>
              <a:cxnLst/>
              <a:rect r="r" b="b" t="t" l="l"/>
              <a:pathLst>
                <a:path h="369975" w="636905">
                  <a:moveTo>
                    <a:pt x="111813" y="0"/>
                  </a:moveTo>
                  <a:lnTo>
                    <a:pt x="525092" y="0"/>
                  </a:lnTo>
                  <a:cubicBezTo>
                    <a:pt x="554746" y="0"/>
                    <a:pt x="583186" y="11780"/>
                    <a:pt x="604155" y="32749"/>
                  </a:cubicBezTo>
                  <a:cubicBezTo>
                    <a:pt x="625124" y="53718"/>
                    <a:pt x="636905" y="82158"/>
                    <a:pt x="636905" y="111813"/>
                  </a:cubicBezTo>
                  <a:lnTo>
                    <a:pt x="636905" y="258162"/>
                  </a:lnTo>
                  <a:cubicBezTo>
                    <a:pt x="636905" y="319915"/>
                    <a:pt x="586844" y="369975"/>
                    <a:pt x="525092" y="369975"/>
                  </a:cubicBezTo>
                  <a:lnTo>
                    <a:pt x="111813" y="369975"/>
                  </a:lnTo>
                  <a:cubicBezTo>
                    <a:pt x="82158" y="369975"/>
                    <a:pt x="53718" y="358195"/>
                    <a:pt x="32749" y="337226"/>
                  </a:cubicBezTo>
                  <a:cubicBezTo>
                    <a:pt x="11780" y="316257"/>
                    <a:pt x="0" y="287817"/>
                    <a:pt x="0" y="258162"/>
                  </a:cubicBezTo>
                  <a:lnTo>
                    <a:pt x="0" y="111813"/>
                  </a:lnTo>
                  <a:cubicBezTo>
                    <a:pt x="0" y="50060"/>
                    <a:pt x="50060" y="0"/>
                    <a:pt x="111813" y="0"/>
                  </a:cubicBezTo>
                  <a:close/>
                </a:path>
              </a:pathLst>
            </a:custGeom>
            <a:solidFill>
              <a:srgbClr val="042E6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6905" cy="4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17735" y="830161"/>
            <a:ext cx="300610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ODS principal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24594" y="1736779"/>
            <a:ext cx="8135510" cy="176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ODS 6 · Agua limpia y saneamiento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98227" y="4897647"/>
            <a:ext cx="2561876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55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Meta 6.4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98227" y="6327614"/>
            <a:ext cx="2561876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55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Indicador 6.4.1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298227" y="8004123"/>
            <a:ext cx="2561876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pc="55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Indicador 6.4.2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80087" y="4722455"/>
            <a:ext cx="5794948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Aumentar la eficiencia del uso del agua y contribuir a un uso sostenible del recurso.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80087" y="6372814"/>
            <a:ext cx="579494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Cambio en la eficiencia del uso del agua con el tiempo.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80087" y="8023173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Nivel de estrés hídrico.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62996" y="4793456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3870" y="2001804"/>
            <a:ext cx="7632770" cy="176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ODS complementarios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3226" y="5433223"/>
            <a:ext cx="7021995" cy="702199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08704" y="-3026025"/>
            <a:ext cx="7021995" cy="702199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93867" y="4566385"/>
            <a:ext cx="4155471" cy="866838"/>
            <a:chOff x="0" y="0"/>
            <a:chExt cx="1033086" cy="215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93867" y="8303786"/>
            <a:ext cx="4155471" cy="866838"/>
            <a:chOff x="0" y="0"/>
            <a:chExt cx="1033086" cy="2155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67835" y="-3878229"/>
            <a:ext cx="5889559" cy="588955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34223" y="0"/>
            <a:ext cx="10287000" cy="1028700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501738" y="-933450"/>
            <a:ext cx="12153900" cy="1215390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92263" y="4566385"/>
            <a:ext cx="4155471" cy="866838"/>
            <a:chOff x="0" y="0"/>
            <a:chExt cx="1033086" cy="2155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892263" y="8303786"/>
            <a:ext cx="4155471" cy="866838"/>
            <a:chOff x="0" y="0"/>
            <a:chExt cx="1033086" cy="2155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3086" cy="215504"/>
            </a:xfrm>
            <a:custGeom>
              <a:avLst/>
              <a:gdLst/>
              <a:ahLst/>
              <a:cxnLst/>
              <a:rect r="r" b="b" t="t" l="l"/>
              <a:pathLst>
                <a:path h="215504" w="1033086">
                  <a:moveTo>
                    <a:pt x="63344" y="0"/>
                  </a:moveTo>
                  <a:lnTo>
                    <a:pt x="969742" y="0"/>
                  </a:lnTo>
                  <a:cubicBezTo>
                    <a:pt x="1004726" y="0"/>
                    <a:pt x="1033086" y="28360"/>
                    <a:pt x="1033086" y="63344"/>
                  </a:cubicBezTo>
                  <a:lnTo>
                    <a:pt x="1033086" y="152159"/>
                  </a:lnTo>
                  <a:cubicBezTo>
                    <a:pt x="1033086" y="168959"/>
                    <a:pt x="1026413" y="185071"/>
                    <a:pt x="1014533" y="196950"/>
                  </a:cubicBezTo>
                  <a:cubicBezTo>
                    <a:pt x="1002654" y="208830"/>
                    <a:pt x="986542" y="215504"/>
                    <a:pt x="969742" y="215504"/>
                  </a:cubicBezTo>
                  <a:lnTo>
                    <a:pt x="63344" y="215504"/>
                  </a:lnTo>
                  <a:cubicBezTo>
                    <a:pt x="28360" y="215504"/>
                    <a:pt x="0" y="187143"/>
                    <a:pt x="0" y="152159"/>
                  </a:cubicBezTo>
                  <a:lnTo>
                    <a:pt x="0" y="63344"/>
                  </a:lnTo>
                  <a:cubicBezTo>
                    <a:pt x="0" y="28360"/>
                    <a:pt x="28360" y="0"/>
                    <a:pt x="63344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33086" cy="253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193867" y="1959322"/>
            <a:ext cx="4155471" cy="2435084"/>
            <a:chOff x="0" y="0"/>
            <a:chExt cx="643791" cy="3772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935" r="0" b="-693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193867" y="5696723"/>
            <a:ext cx="4155471" cy="2435084"/>
            <a:chOff x="0" y="0"/>
            <a:chExt cx="643791" cy="3772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6935" r="0" b="-693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92263" y="1959322"/>
            <a:ext cx="4155471" cy="2435084"/>
            <a:chOff x="0" y="0"/>
            <a:chExt cx="643791" cy="37725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5228" r="0" b="-5228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892263" y="5696723"/>
            <a:ext cx="4155471" cy="2435084"/>
            <a:chOff x="0" y="0"/>
            <a:chExt cx="643791" cy="3772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3791" cy="377258"/>
            </a:xfrm>
            <a:custGeom>
              <a:avLst/>
              <a:gdLst/>
              <a:ahLst/>
              <a:cxnLst/>
              <a:rect r="r" b="b" t="t" l="l"/>
              <a:pathLst>
                <a:path h="377258" w="643791">
                  <a:moveTo>
                    <a:pt x="59618" y="0"/>
                  </a:moveTo>
                  <a:lnTo>
                    <a:pt x="584173" y="0"/>
                  </a:lnTo>
                  <a:cubicBezTo>
                    <a:pt x="599985" y="0"/>
                    <a:pt x="615149" y="6281"/>
                    <a:pt x="626330" y="17462"/>
                  </a:cubicBezTo>
                  <a:cubicBezTo>
                    <a:pt x="637510" y="28642"/>
                    <a:pt x="643791" y="43806"/>
                    <a:pt x="643791" y="59618"/>
                  </a:cubicBezTo>
                  <a:lnTo>
                    <a:pt x="643791" y="317640"/>
                  </a:lnTo>
                  <a:cubicBezTo>
                    <a:pt x="643791" y="350566"/>
                    <a:pt x="617099" y="377258"/>
                    <a:pt x="584173" y="377258"/>
                  </a:cubicBezTo>
                  <a:lnTo>
                    <a:pt x="59618" y="377258"/>
                  </a:lnTo>
                  <a:cubicBezTo>
                    <a:pt x="26692" y="377258"/>
                    <a:pt x="0" y="350566"/>
                    <a:pt x="0" y="317640"/>
                  </a:cubicBezTo>
                  <a:lnTo>
                    <a:pt x="0" y="59618"/>
                  </a:lnTo>
                  <a:cubicBezTo>
                    <a:pt x="0" y="26692"/>
                    <a:pt x="26692" y="0"/>
                    <a:pt x="59618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6779" r="0" b="-6779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-709763" y="8924503"/>
            <a:ext cx="2086881" cy="208688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5400000">
            <a:off x="13331880" y="977933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5400000">
            <a:off x="9487271" y="-458646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917735" y="830161"/>
            <a:ext cx="300610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Sostenibilidad y resiliencia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33870" y="5228857"/>
            <a:ext cx="5794948" cy="350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HydroAdapt se vincula principalmente con el ODS 6. Como impacto complementario, una gestión de riego más eficiente también se relaciona con el uso responsable de recursos y con la adaptación de la agricultura frente a la variabilidad climática.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93867" y="4745831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ODS 12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93867" y="8483232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Eficiencia de recursos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92263" y="4745831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ODS 13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92263" y="8483232"/>
            <a:ext cx="41554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Resiliencia climática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68217" y="-3889223"/>
            <a:ext cx="13012012" cy="130120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11230" y="2207205"/>
            <a:ext cx="5823299" cy="86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021835"/>
                </a:solidFill>
                <a:latin typeface="Hangyaboly"/>
                <a:ea typeface="Hangyaboly"/>
                <a:cs typeface="Hangyaboly"/>
                <a:sym typeface="Hangyaboly"/>
              </a:rPr>
              <a:t>Brecha tecnológica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532233" y="4068111"/>
            <a:ext cx="5329024" cy="53290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76083" y="-3208916"/>
            <a:ext cx="11596280" cy="1159628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234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07915" y="-1810179"/>
            <a:ext cx="9457518" cy="945751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369" t="0" r="-101630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669665" y="4205543"/>
            <a:ext cx="5054160" cy="505416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7612" t="0" r="-65935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162871" y="-3337786"/>
            <a:ext cx="4506794" cy="45067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511230" y="3757465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1255166" y="82807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633003" y="-3192009"/>
            <a:ext cx="7021995" cy="7021995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4EA41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2255831" y="4868799"/>
            <a:ext cx="7021995" cy="702199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1099938" y="9023562"/>
            <a:ext cx="2867232" cy="2867232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85775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5400000">
            <a:off x="9848399" y="7872134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5"/>
                </a:lnTo>
                <a:lnTo>
                  <a:pt x="0" y="10153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511230" y="4249297"/>
            <a:ext cx="7260663" cy="1092355"/>
            <a:chOff x="0" y="0"/>
            <a:chExt cx="1805064" cy="2715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11230" y="5581553"/>
            <a:ext cx="7260663" cy="1092355"/>
            <a:chOff x="0" y="0"/>
            <a:chExt cx="1805064" cy="2715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1840892" y="4483939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2"/>
                </a:lnTo>
                <a:lnTo>
                  <a:pt x="0" y="62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40892" y="5816195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511230" y="6913809"/>
            <a:ext cx="7260663" cy="1092355"/>
            <a:chOff x="0" y="0"/>
            <a:chExt cx="1805064" cy="2715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840892" y="7148451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511230" y="8246065"/>
            <a:ext cx="7260663" cy="1092355"/>
            <a:chOff x="0" y="0"/>
            <a:chExt cx="1805064" cy="27156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05064" cy="271569"/>
            </a:xfrm>
            <a:custGeom>
              <a:avLst/>
              <a:gdLst/>
              <a:ahLst/>
              <a:cxnLst/>
              <a:rect r="r" b="b" t="t" l="l"/>
              <a:pathLst>
                <a:path h="271569" w="1805064">
                  <a:moveTo>
                    <a:pt x="60778" y="0"/>
                  </a:moveTo>
                  <a:lnTo>
                    <a:pt x="1744286" y="0"/>
                  </a:lnTo>
                  <a:cubicBezTo>
                    <a:pt x="1777853" y="0"/>
                    <a:pt x="1805064" y="27211"/>
                    <a:pt x="1805064" y="60778"/>
                  </a:cubicBezTo>
                  <a:lnTo>
                    <a:pt x="1805064" y="210791"/>
                  </a:lnTo>
                  <a:cubicBezTo>
                    <a:pt x="1805064" y="244358"/>
                    <a:pt x="1777853" y="271569"/>
                    <a:pt x="1744286" y="271569"/>
                  </a:cubicBezTo>
                  <a:lnTo>
                    <a:pt x="60778" y="271569"/>
                  </a:lnTo>
                  <a:cubicBezTo>
                    <a:pt x="27211" y="271569"/>
                    <a:pt x="0" y="244358"/>
                    <a:pt x="0" y="210791"/>
                  </a:cubicBezTo>
                  <a:lnTo>
                    <a:pt x="0" y="60778"/>
                  </a:lnTo>
                  <a:cubicBezTo>
                    <a:pt x="0" y="27211"/>
                    <a:pt x="27211" y="0"/>
                    <a:pt x="60778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805064" cy="309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840892" y="8480707"/>
            <a:ext cx="672729" cy="623071"/>
          </a:xfrm>
          <a:custGeom>
            <a:avLst/>
            <a:gdLst/>
            <a:ahLst/>
            <a:cxnLst/>
            <a:rect r="r" b="b" t="t" l="l"/>
            <a:pathLst>
              <a:path h="623071" w="672729">
                <a:moveTo>
                  <a:pt x="0" y="0"/>
                </a:moveTo>
                <a:lnTo>
                  <a:pt x="672730" y="0"/>
                </a:lnTo>
                <a:lnTo>
                  <a:pt x="672730" y="623071"/>
                </a:lnTo>
                <a:lnTo>
                  <a:pt x="0" y="62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2859899" y="4541502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Superar horarios fijos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44314" y="5654656"/>
            <a:ext cx="579494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Aprender la respuesta de la parcela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859899" y="7206014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Reducir calibración manual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59899" y="8538270"/>
            <a:ext cx="579494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Decidir con datos integrados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710394" y="3566089"/>
            <a:ext cx="4915582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435442" y="2323532"/>
            <a:ext cx="8190534" cy="92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HydroAdapt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23226" y="5433223"/>
            <a:ext cx="7021995" cy="702199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53504" y="-2455749"/>
            <a:ext cx="7021995" cy="702199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4247531" y="-386938"/>
            <a:ext cx="11640323" cy="1164032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44559" y="8924503"/>
            <a:ext cx="2086881" cy="208688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71726" y="-1255283"/>
            <a:ext cx="4045543" cy="404554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5400000">
            <a:off x="13331880" y="977933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400000">
            <a:off x="10836208" y="-458646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84482" y="1365186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-3570870" y="289723"/>
            <a:ext cx="10287000" cy="1028700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771726" y="761463"/>
            <a:ext cx="4057567" cy="405756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3754" t="0" r="-13754" b="0"/>
              </a:stretch>
            </a:blipFill>
            <a:ln w="295275" cap="sq">
              <a:solidFill>
                <a:srgbClr val="1F3541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-1295251" y="6390418"/>
            <a:ext cx="5735763" cy="5735763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6666" t="0" r="-16666" b="0"/>
              </a:stretch>
            </a:blipFill>
            <a:ln w="409575" cap="sq">
              <a:solidFill>
                <a:srgbClr val="8EB5BD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8149175" y="3766114"/>
            <a:ext cx="8476801" cy="438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 i="true" spc="49">
                <a:solidFill>
                  <a:srgbClr val="021835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Arquitectura del Sistema</a:t>
            </a:r>
          </a:p>
          <a:p>
            <a:pPr algn="r">
              <a:lnSpc>
                <a:spcPts val="3499"/>
              </a:lnSpc>
            </a:pPr>
            <a:r>
              <a:rPr lang="en-US" sz="2499" spc="49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Sistema autónomo de control adaptativo en bucle cerrado (closed-loop) que optimiza dinámicamente la aplicación de riego mediante un ciclo continuo de adquisición de datos, análisis predictivo, ejecución de actuación, monitoreo de respuesta y retroalimentación del modelo, adaptándose con precisión a la variabilidad edáfica y microclimática de cada parcela.</a:t>
            </a:r>
          </a:p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8263744" y="8331764"/>
            <a:ext cx="847680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i="true" spc="49" strike="noStrike" u="none">
                <a:solidFill>
                  <a:srgbClr val="021835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Evolución futura:</a:t>
            </a:r>
            <a:r>
              <a:rPr lang="en-US" sz="2499" spc="49" strike="noStrike" u="none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 integrar fertirrigación inteligente sin ampliar innecesariamente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781620" y="1810638"/>
            <a:ext cx="60814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Propuesta conceptual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66177" y="-2253397"/>
            <a:ext cx="4506794" cy="450679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366177" y="-2253397"/>
            <a:ext cx="4506794" cy="45067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33375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163265" y="7505674"/>
            <a:ext cx="4506794" cy="450679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00357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58839" y="-2718102"/>
            <a:ext cx="7021995" cy="702199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652862" y="5623596"/>
            <a:ext cx="7021995" cy="702199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2862" y="5015036"/>
            <a:ext cx="4981276" cy="498127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143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5798140" y="-654640"/>
            <a:ext cx="11596280" cy="115962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-5143500" y="0"/>
            <a:ext cx="10287000" cy="102870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0541" t="0" r="-47235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81326" y="5143500"/>
            <a:ext cx="4724348" cy="472434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7922" t="0" r="-32077" b="0"/>
              </a:stretch>
            </a:blipFill>
            <a:ln w="409575" cap="sq">
              <a:solidFill>
                <a:srgbClr val="EEF5FF"/>
              </a:solidFill>
              <a:prstDash val="solid"/>
              <a:miter/>
            </a:ln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6484482" y="1028700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1408407" y="8737143"/>
            <a:ext cx="5709033" cy="1042313"/>
            <a:chOff x="0" y="0"/>
            <a:chExt cx="400154" cy="730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0154" cy="73057"/>
            </a:xfrm>
            <a:custGeom>
              <a:avLst/>
              <a:gdLst/>
              <a:ahLst/>
              <a:cxnLst/>
              <a:rect r="r" b="b" t="t" l="l"/>
              <a:pathLst>
                <a:path h="73057" w="400154">
                  <a:moveTo>
                    <a:pt x="36529" y="0"/>
                  </a:moveTo>
                  <a:lnTo>
                    <a:pt x="363626" y="0"/>
                  </a:lnTo>
                  <a:cubicBezTo>
                    <a:pt x="373314" y="0"/>
                    <a:pt x="382605" y="3849"/>
                    <a:pt x="389455" y="10699"/>
                  </a:cubicBezTo>
                  <a:cubicBezTo>
                    <a:pt x="396306" y="17549"/>
                    <a:pt x="400154" y="26841"/>
                    <a:pt x="400154" y="36529"/>
                  </a:cubicBezTo>
                  <a:lnTo>
                    <a:pt x="400154" y="36529"/>
                  </a:lnTo>
                  <a:cubicBezTo>
                    <a:pt x="400154" y="46217"/>
                    <a:pt x="396306" y="55508"/>
                    <a:pt x="389455" y="62358"/>
                  </a:cubicBezTo>
                  <a:cubicBezTo>
                    <a:pt x="382605" y="69209"/>
                    <a:pt x="373314" y="73057"/>
                    <a:pt x="363626" y="73057"/>
                  </a:cubicBezTo>
                  <a:lnTo>
                    <a:pt x="36529" y="73057"/>
                  </a:lnTo>
                  <a:cubicBezTo>
                    <a:pt x="26841" y="73057"/>
                    <a:pt x="17549" y="69209"/>
                    <a:pt x="10699" y="62358"/>
                  </a:cubicBezTo>
                  <a:cubicBezTo>
                    <a:pt x="3849" y="55508"/>
                    <a:pt x="0" y="46217"/>
                    <a:pt x="0" y="36529"/>
                  </a:cubicBezTo>
                  <a:lnTo>
                    <a:pt x="0" y="36529"/>
                  </a:lnTo>
                  <a:cubicBezTo>
                    <a:pt x="0" y="26841"/>
                    <a:pt x="3849" y="17549"/>
                    <a:pt x="10699" y="10699"/>
                  </a:cubicBezTo>
                  <a:cubicBezTo>
                    <a:pt x="17549" y="3849"/>
                    <a:pt x="26841" y="0"/>
                    <a:pt x="36529" y="0"/>
                  </a:cubicBezTo>
                  <a:close/>
                </a:path>
              </a:pathLst>
            </a:custGeom>
            <a:solidFill>
              <a:srgbClr val="66993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00154" cy="1111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203487" y="8926070"/>
            <a:ext cx="537058" cy="537058"/>
          </a:xfrm>
          <a:custGeom>
            <a:avLst/>
            <a:gdLst/>
            <a:ahLst/>
            <a:cxnLst/>
            <a:rect r="r" b="b" t="t" l="l"/>
            <a:pathLst>
              <a:path h="537058" w="537058">
                <a:moveTo>
                  <a:pt x="0" y="0"/>
                </a:moveTo>
                <a:lnTo>
                  <a:pt x="537058" y="0"/>
                </a:lnTo>
                <a:lnTo>
                  <a:pt x="537058" y="537059"/>
                </a:lnTo>
                <a:lnTo>
                  <a:pt x="0" y="537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5400000">
            <a:off x="6984514" y="9473812"/>
            <a:ext cx="1356285" cy="1579372"/>
          </a:xfrm>
          <a:custGeom>
            <a:avLst/>
            <a:gdLst/>
            <a:ahLst/>
            <a:cxnLst/>
            <a:rect r="r" b="b" t="t" l="l"/>
            <a:pathLst>
              <a:path h="1579372" w="1356285">
                <a:moveTo>
                  <a:pt x="0" y="0"/>
                </a:moveTo>
                <a:lnTo>
                  <a:pt x="1356285" y="0"/>
                </a:lnTo>
                <a:lnTo>
                  <a:pt x="1356285" y="1579371"/>
                </a:lnTo>
                <a:lnTo>
                  <a:pt x="0" y="15793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5400000">
            <a:off x="11038059" y="-766183"/>
            <a:ext cx="1356285" cy="1579372"/>
          </a:xfrm>
          <a:custGeom>
            <a:avLst/>
            <a:gdLst/>
            <a:ahLst/>
            <a:cxnLst/>
            <a:rect r="r" b="b" t="t" l="l"/>
            <a:pathLst>
              <a:path h="1579372" w="1356285">
                <a:moveTo>
                  <a:pt x="0" y="0"/>
                </a:moveTo>
                <a:lnTo>
                  <a:pt x="1356286" y="0"/>
                </a:lnTo>
                <a:lnTo>
                  <a:pt x="1356286" y="1579371"/>
                </a:lnTo>
                <a:lnTo>
                  <a:pt x="0" y="15793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397069" y="1835880"/>
            <a:ext cx="9664648" cy="1701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880"/>
              </a:lnSpc>
              <a:spcBef>
                <a:spcPct val="0"/>
              </a:spcBef>
            </a:pPr>
            <a:r>
              <a:rPr lang="en-US" b="true" sz="12000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HydroAdapt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47640" y="4437288"/>
            <a:ext cx="9111660" cy="1440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6"/>
              </a:lnSpc>
              <a:spcBef>
                <a:spcPct val="0"/>
              </a:spcBef>
            </a:pPr>
            <a:r>
              <a:rPr lang="en-US" b="true" sz="3673" strike="noStrike" u="none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El reto no es solo cuánto regar, sino decidir según las condiciones reales de cada parcela.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66785" y="962025"/>
            <a:ext cx="300610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49" strike="noStrike" u="none">
                <a:solidFill>
                  <a:srgbClr val="021835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Equipo 13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16202" y="8721524"/>
            <a:ext cx="4193086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4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Fundamentos de Diseño · UPCH · 2026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863020" y="231716"/>
            <a:ext cx="2114220" cy="882773"/>
          </a:xfrm>
          <a:custGeom>
            <a:avLst/>
            <a:gdLst/>
            <a:ahLst/>
            <a:cxnLst/>
            <a:rect r="r" b="b" t="t" l="l"/>
            <a:pathLst>
              <a:path h="882773" w="2114220">
                <a:moveTo>
                  <a:pt x="0" y="0"/>
                </a:moveTo>
                <a:lnTo>
                  <a:pt x="2114220" y="0"/>
                </a:lnTo>
                <a:lnTo>
                  <a:pt x="2114220" y="882773"/>
                </a:lnTo>
                <a:lnTo>
                  <a:pt x="0" y="8827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11230" y="3070862"/>
            <a:ext cx="5378234" cy="0"/>
          </a:xfrm>
          <a:prstGeom prst="line">
            <a:avLst/>
          </a:prstGeom>
          <a:ln cap="flat" w="38100">
            <a:solidFill>
              <a:srgbClr val="6699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55166" y="176293"/>
            <a:ext cx="512127" cy="512127"/>
          </a:xfrm>
          <a:custGeom>
            <a:avLst/>
            <a:gdLst/>
            <a:ahLst/>
            <a:cxnLst/>
            <a:rect r="r" b="b" t="t" l="l"/>
            <a:pathLst>
              <a:path h="512127" w="512127">
                <a:moveTo>
                  <a:pt x="0" y="0"/>
                </a:moveTo>
                <a:lnTo>
                  <a:pt x="512127" y="0"/>
                </a:lnTo>
                <a:lnTo>
                  <a:pt x="512127" y="512127"/>
                </a:lnTo>
                <a:lnTo>
                  <a:pt x="0" y="512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95863" y="188227"/>
            <a:ext cx="859081" cy="1000386"/>
          </a:xfrm>
          <a:custGeom>
            <a:avLst/>
            <a:gdLst/>
            <a:ahLst/>
            <a:cxnLst/>
            <a:rect r="r" b="b" t="t" l="l"/>
            <a:pathLst>
              <a:path h="1000386" w="859081">
                <a:moveTo>
                  <a:pt x="0" y="0"/>
                </a:moveTo>
                <a:lnTo>
                  <a:pt x="859081" y="0"/>
                </a:lnTo>
                <a:lnTo>
                  <a:pt x="859081" y="1000386"/>
                </a:lnTo>
                <a:lnTo>
                  <a:pt x="0" y="10003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1230" y="1949797"/>
            <a:ext cx="9461972" cy="92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021835"/>
                </a:solidFill>
                <a:latin typeface="Poppins Bold"/>
                <a:ea typeface="Poppins Bold"/>
                <a:cs typeface="Poppins Bold"/>
                <a:sym typeface="Poppins Bold"/>
              </a:rPr>
              <a:t>BIBLIOGRAFIA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923226" y="5433223"/>
            <a:ext cx="7021995" cy="702199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08704" y="-3026025"/>
            <a:ext cx="7021995" cy="702199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0357A">
                  <a:alpha val="4706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67835" y="-3878229"/>
            <a:ext cx="5889559" cy="588955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434223" y="0"/>
            <a:ext cx="10287000" cy="102870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357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01738" y="-933450"/>
            <a:ext cx="12153900" cy="121539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709763" y="8924503"/>
            <a:ext cx="2086881" cy="208688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0" cap="sq">
              <a:solidFill>
                <a:srgbClr val="66993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5400000">
            <a:off x="13331880" y="9779337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1" y="0"/>
                </a:lnTo>
                <a:lnTo>
                  <a:pt x="871911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9487271" y="-458646"/>
            <a:ext cx="871911" cy="1015325"/>
          </a:xfrm>
          <a:custGeom>
            <a:avLst/>
            <a:gdLst/>
            <a:ahLst/>
            <a:cxnLst/>
            <a:rect r="r" b="b" t="t" l="l"/>
            <a:pathLst>
              <a:path h="1015325" w="871911">
                <a:moveTo>
                  <a:pt x="0" y="0"/>
                </a:moveTo>
                <a:lnTo>
                  <a:pt x="871910" y="0"/>
                </a:lnTo>
                <a:lnTo>
                  <a:pt x="871910" y="1015326"/>
                </a:lnTo>
                <a:lnTo>
                  <a:pt x="0" y="101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14992" y="3213737"/>
            <a:ext cx="11748943" cy="595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AutoNum type="arabicPeriod" startAt="1"/>
            </a:pP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Organización de las Naciones Unidas para la Alimentación y la Agricultura (FAO), “Gestión del agua agrícola”, Tierra, suelo y agua. [En línea]. Disponible: </a:t>
            </a:r>
            <a:r>
              <a:rPr lang="en-US" sz="1900" spc="38" u="sng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  <a:hlinkClick r:id="rId6" tooltip="https://www.fao.org/land-water/water/agricultural-water-management/water-accounting/en"/>
              </a:rPr>
              <a:t>https://www.fao.org/land-water/water/agricultural-water-management/water-accounting/en</a:t>
            </a: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 . </a:t>
            </a:r>
          </a:p>
          <a:p>
            <a:pPr algn="l" marL="410211" indent="-205106" lvl="1">
              <a:lnSpc>
                <a:spcPts val="2660"/>
              </a:lnSpc>
              <a:buAutoNum type="arabicPeriod" startAt="1"/>
            </a:pP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Autoridad Nacional del Agua, “Déficit en precipitaciones afectará disponibilidad de recursos hídrico en Arequipa,” Gobierno del Perú, Aug. 10, 2023. [Online]. Available: </a:t>
            </a:r>
            <a:r>
              <a:rPr lang="en-US" sz="1900" spc="38" u="sng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  <a:hlinkClick r:id="rId7" tooltip="https://www.gob.pe/institucion/ana/noticias/816762-deficit-en-precipitaciones-afectara-disponibilidad-de-recursos-hidrico-en-arequipa"/>
              </a:rPr>
              <a:t>https://www.gob.pe/institucion/ana/noticias/816762-deficit-en-precipitaciones-afectara-disponibilidad-de-recursos-hidrico-en-arequipa</a:t>
            </a: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 marL="410211" indent="-205106" lvl="1">
              <a:lnSpc>
                <a:spcPts val="2660"/>
              </a:lnSpc>
              <a:buAutoNum type="arabicPeriod" startAt="1"/>
            </a:pP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World Bank, “Peru: Strategic Actions Toward Water Security.” [Online]. Available: </a:t>
            </a:r>
            <a:r>
              <a:rPr lang="en-US" sz="1900" spc="38" u="sng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  <a:hlinkClick r:id="rId8" tooltip="https://www.worldbank.org/en/topic/water/publication/peru-strategic-actions-toward-water-security"/>
              </a:rPr>
              <a:t>https://www.worldbank.org/en/topic/water/publication/peru-strategic-actions-toward-water-security</a:t>
            </a: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algn="l" marL="410211" indent="-205106" lvl="1">
              <a:lnSpc>
                <a:spcPts val="2660"/>
              </a:lnSpc>
              <a:buAutoNum type="arabicPeriod" startAt="1"/>
            </a:pP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Instituto Nacional de Estadística e Informática (INEI). (2024). Encuesta Nacional Agropecuaria 2023: Principales resultados. INEI.</a:t>
            </a:r>
          </a:p>
          <a:p>
            <a:pPr algn="l" marL="410211" indent="-205106" lvl="1">
              <a:lnSpc>
                <a:spcPts val="2660"/>
              </a:lnSpc>
              <a:buAutoNum type="arabicPeriod" startAt="1"/>
            </a:pPr>
            <a:r>
              <a:rPr lang="en-US" sz="1900" spc="38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Ministerio de Desarrollo Agrario y Riego (MIDAGRI). (2026). Gobierno impulsa la gestión sostenible del agua para fortalecer el desarrollo agrario del país. MIDAGRI.</a:t>
            </a:r>
          </a:p>
          <a:p>
            <a:pPr algn="l" marL="388622" indent="-194311" lvl="1">
              <a:lnSpc>
                <a:spcPts val="2520"/>
              </a:lnSpc>
              <a:buAutoNum type="arabicPeriod" startAt="1"/>
            </a:pPr>
            <a:r>
              <a:rPr lang="en-US" sz="1800" spc="36">
                <a:solidFill>
                  <a:srgbClr val="021835"/>
                </a:solidFill>
                <a:latin typeface="Poppins"/>
                <a:ea typeface="Poppins"/>
                <a:cs typeface="Poppins"/>
                <a:sym typeface="Poppins"/>
              </a:rPr>
              <a:t>Moustafa, A., et al. (2026). Internet of Things-enabled smart irrigation systems for precision water management: A systematic review. Agricultural Water Management, 333, 110615. https://doi.org/10.1016/j.agwat.2026.110615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DAHVZgBcRbg</dc:identifier>
  <dcterms:modified xsi:type="dcterms:W3CDTF">2011-08-01T06:04:30Z</dcterms:modified>
  <cp:revision>1</cp:revision>
  <dc:title>HydroAdapt — Exposición de Problemática</dc:title>
</cp:coreProperties>
</file>